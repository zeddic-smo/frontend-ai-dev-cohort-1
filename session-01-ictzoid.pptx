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ICTZoid TechLab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001E2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WEB DEVELOPMENT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7276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8FAFC"/>
                </a:solidFill>
                <a:latin typeface="Calibri"/>
              </a:rPr>
              <a:t>From Zero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12848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FF"/>
                </a:solidFill>
                <a:latin typeface="Calibri"/>
              </a:rPr>
              <a:t>AI-Powered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154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6 Courses  ·  2 Master Sessions  ·  85+ Lessons  ·  Certificate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657600"/>
            <a:ext cx="777240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7673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LEAD INSTRUCTOR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0416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Calibri"/>
              </a:rPr>
              <a:t>Samuel M. Ortil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77316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001A2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8" y="477316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001A2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1176" y="4773168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001A2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477316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001A22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68112" y="4773168"/>
            <a:ext cx="1120140" cy="347472"/>
          </a:xfrm>
          <a:prstGeom prst="roundRect">
            <a:avLst>
              <a:gd name="adj" fmla="val 50000"/>
            </a:avLst>
          </a:prstGeom>
          <a:solidFill>
            <a:srgbClr val="120A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97980" y="4773168"/>
            <a:ext cx="1805940" cy="347472"/>
          </a:xfrm>
          <a:prstGeom prst="roundRect">
            <a:avLst>
              <a:gd name="adj" fmla="val 50000"/>
            </a:avLst>
          </a:prstGeom>
          <a:solidFill>
            <a:srgbClr val="051A0E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2C55E"/>
                </a:solidFill>
                <a:latin typeface="Calibri"/>
              </a:rPr>
              <a:t>Frontend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217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May 2026  ·  First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FAFC"/>
                </a:solidFill>
                <a:latin typeface="Calibri"/>
              </a:rPr>
              <a:t>ICTZoid TechLab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A technology education lab built for the next generation of African developers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D4FF"/>
                </a:solidFill>
                <a:latin typeface="Calibri"/>
              </a:rPr>
              <a:t>▸  </a:t>
            </a:r>
            <a:r>
              <a:rPr b="0" sz="1700">
                <a:solidFill>
                  <a:srgbClr val="F8FAFC"/>
                </a:solidFill>
                <a:latin typeface="Calibri"/>
              </a:rPr>
              <a:t>Job-ready curriculum — everything maps to what real teams ship</a:t>
            </a:r>
          </a:p>
          <a:p>
            <a:pPr algn="l"/>
            <a:r>
              <a:rPr b="1" sz="1700">
                <a:solidFill>
                  <a:srgbClr val="00D4FF"/>
                </a:solidFill>
                <a:latin typeface="Calibri"/>
              </a:rPr>
              <a:t>▸  </a:t>
            </a:r>
            <a:r>
              <a:rPr b="0" sz="1700">
                <a:solidFill>
                  <a:srgbClr val="F8FAFC"/>
                </a:solidFill>
                <a:latin typeface="Calibri"/>
              </a:rPr>
              <a:t>Cohort-based — you grow alongside a community, not in isolation</a:t>
            </a:r>
          </a:p>
          <a:p>
            <a:pPr algn="l"/>
            <a:r>
              <a:rPr b="1" sz="1700">
                <a:solidFill>
                  <a:srgbClr val="00D4FF"/>
                </a:solidFill>
                <a:latin typeface="Calibri"/>
              </a:rPr>
              <a:t>▸  </a:t>
            </a:r>
            <a:r>
              <a:rPr b="0" sz="1700">
                <a:solidFill>
                  <a:srgbClr val="F8FAFC"/>
                </a:solidFill>
                <a:latin typeface="Calibri"/>
              </a:rPr>
              <a:t>Africa-first — built for our context, our pace, our ambitions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94960" cy="283464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THREE PILLARS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965960"/>
            <a:ext cx="50292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391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Rigour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679191"/>
            <a:ext cx="50292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27523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  <a:latin typeface="Calibri"/>
              </a:rPr>
              <a:t>Relevance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392424"/>
            <a:ext cx="5029200" cy="5669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34655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2976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  <a:latin typeface="Calibri"/>
              </a:rPr>
              <a:t>"We do not teach theory for theory's sake."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What You Are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2468880" cy="11704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0515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D4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Master 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87552"/>
            <a:ext cx="2468880" cy="11704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0515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D4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Courses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987552"/>
            <a:ext cx="2468880" cy="11704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0515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D4FF"/>
                </a:solidFill>
                <a:latin typeface="Calibri"/>
              </a:rPr>
              <a:t>85+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Lessons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59" y="987552"/>
            <a:ext cx="2468880" cy="11704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7" y="10515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D4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7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Certificate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331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THE LEARNING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2697480"/>
            <a:ext cx="311810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How the Internet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8144" y="27157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94176" y="269748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SDLC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7157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6048" y="269748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27157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69748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CSS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157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9792" y="26974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JavaScript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7157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27464" y="2697480"/>
            <a:ext cx="1929384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Git &amp; 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6848" y="27157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612880" y="26974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React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10160" y="271576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966192" y="2697480"/>
            <a:ext cx="1810512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22C55E"/>
                </a:solidFill>
                <a:latin typeface="Calibri"/>
              </a:rPr>
              <a:t>Frontend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3101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WHERE YOU WILL BE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3639312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22C55E"/>
                </a:solidFill>
                <a:latin typeface="Calibri"/>
              </a:rPr>
              <a:t>✓  </a:t>
            </a:r>
            <a:r>
              <a:rPr b="0" sz="1700">
                <a:solidFill>
                  <a:srgbClr val="94A3B8"/>
                </a:solidFill>
                <a:latin typeface="Calibri"/>
              </a:rPr>
              <a:t>Building and deploying real web applications</a:t>
            </a:r>
          </a:p>
          <a:p>
            <a:pPr algn="l"/>
            <a:r>
              <a:rPr b="1" sz="1700">
                <a:solidFill>
                  <a:srgbClr val="22C55E"/>
                </a:solidFill>
                <a:latin typeface="Calibri"/>
              </a:rPr>
              <a:t>✓  </a:t>
            </a:r>
            <a:r>
              <a:rPr b="0" sz="1700">
                <a:solidFill>
                  <a:srgbClr val="94A3B8"/>
                </a:solidFill>
                <a:latin typeface="Calibri"/>
              </a:rPr>
              <a:t>Integrating AI APIs (Claude, GPT-4o) inside production React apps</a:t>
            </a:r>
          </a:p>
          <a:p>
            <a:pPr algn="l"/>
            <a:r>
              <a:rPr b="1" sz="1700">
                <a:solidFill>
                  <a:srgbClr val="22C55E"/>
                </a:solidFill>
                <a:latin typeface="Calibri"/>
              </a:rPr>
              <a:t>✓  </a:t>
            </a:r>
            <a:r>
              <a:rPr b="0" sz="1700">
                <a:solidFill>
                  <a:srgbClr val="94A3B8"/>
                </a:solidFill>
                <a:latin typeface="Calibri"/>
              </a:rPr>
              <a:t>Collaborating with version control the way professional teams do</a:t>
            </a:r>
          </a:p>
          <a:p>
            <a:pPr algn="l"/>
            <a:r>
              <a:rPr b="1" sz="1700">
                <a:solidFill>
                  <a:srgbClr val="22C55E"/>
                </a:solidFill>
                <a:latin typeface="Calibri"/>
              </a:rPr>
              <a:t>✓  </a:t>
            </a:r>
            <a:r>
              <a:rPr b="0" sz="1700">
                <a:solidFill>
                  <a:srgbClr val="94A3B8"/>
                </a:solidFill>
                <a:latin typeface="Calibri"/>
              </a:rPr>
              <a:t>Holding a portfolio that proves it — not just a certificate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YOUR INSTRUCTOR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Samuel M. Ortil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412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Lead Instructor — ICTZoid TechLab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TEACHING &amp; MENTORING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64208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D4FF"/>
                </a:solidFill>
                <a:latin typeface="Calibri"/>
              </a:rPr>
              <a:t>▸  </a:t>
            </a:r>
            <a:r>
              <a:rPr b="0" sz="1500">
                <a:solidFill>
                  <a:srgbClr val="F8FAFC"/>
                </a:solidFill>
                <a:latin typeface="Calibri"/>
              </a:rPr>
              <a:t>2019 — Web Design · Classic InfoTech, FUTA Resource Centre</a:t>
            </a:r>
          </a:p>
          <a:p>
            <a:pPr algn="l"/>
            <a:r>
              <a:rPr b="1" sz="1500">
                <a:solidFill>
                  <a:srgbClr val="00D4FF"/>
                </a:solidFill>
                <a:latin typeface="Calibri"/>
              </a:rPr>
              <a:t>▸  </a:t>
            </a:r>
            <a:r>
              <a:rPr b="0" sz="1500">
                <a:solidFill>
                  <a:srgbClr val="F8FAFC"/>
                </a:solidFill>
                <a:latin typeface="Calibri"/>
              </a:rPr>
              <a:t>2019 — Web Design Instructor · Obafemi Awolowo University (OAU)</a:t>
            </a:r>
          </a:p>
          <a:p>
            <a:pPr algn="l"/>
            <a:r>
              <a:rPr b="1" sz="1500">
                <a:solidFill>
                  <a:srgbClr val="00D4FF"/>
                </a:solidFill>
                <a:latin typeface="Calibri"/>
              </a:rPr>
              <a:t>▸  </a:t>
            </a:r>
            <a:r>
              <a:rPr b="0" sz="1500">
                <a:solidFill>
                  <a:srgbClr val="F8FAFC"/>
                </a:solidFill>
                <a:latin typeface="Calibri"/>
              </a:rPr>
              <a:t>Mentor — Top Universe</a:t>
            </a:r>
          </a:p>
          <a:p>
            <a:pPr algn="l"/>
            <a:r>
              <a:rPr b="1" sz="1500">
                <a:solidFill>
                  <a:srgbClr val="00D4FF"/>
                </a:solidFill>
                <a:latin typeface="Calibri"/>
              </a:rPr>
              <a:t>▸  </a:t>
            </a:r>
            <a:r>
              <a:rPr b="0" sz="1500">
                <a:solidFill>
                  <a:srgbClr val="F8FAFC"/>
                </a:solidFill>
                <a:latin typeface="Calibri"/>
              </a:rPr>
              <a:t>Mentor — Maxify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INTERNATIONAL EXPERIENCE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623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282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1109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Maxify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Nigeria · USA · Canada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96312"/>
            <a:ext cx="5623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32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Senior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157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  <a:latin typeface="Calibri"/>
              </a:rPr>
              <a:t>Breezelearn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5351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Canada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00984"/>
            <a:ext cx="5623560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375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Calibri"/>
              </a:rPr>
              <a:t>Fullstack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3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B5CF6"/>
                </a:solidFill>
                <a:latin typeface="Calibri"/>
              </a:rPr>
              <a:t>CircleHQ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58183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Germany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60520"/>
            <a:ext cx="11475720" cy="126187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WHAT THIS MEANS FOR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26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22C55E"/>
                </a:solidFill>
                <a:latin typeface="Calibri"/>
              </a:rPr>
              <a:t>→  </a:t>
            </a:r>
            <a:r>
              <a:rPr b="0" sz="1400">
                <a:solidFill>
                  <a:srgbClr val="94A3B8"/>
                </a:solidFill>
                <a:latin typeface="Calibri"/>
              </a:rPr>
              <a:t>I have built what I'm teaching — not read about it</a:t>
            </a:r>
          </a:p>
          <a:p>
            <a:pPr algn="l"/>
            <a:r>
              <a:rPr b="1" sz="1400">
                <a:solidFill>
                  <a:srgbClr val="22C55E"/>
                </a:solidFill>
                <a:latin typeface="Calibri"/>
              </a:rPr>
              <a:t>→  </a:t>
            </a:r>
            <a:r>
              <a:rPr b="0" sz="1400">
                <a:solidFill>
                  <a:srgbClr val="94A3B8"/>
                </a:solidFill>
                <a:latin typeface="Calibri"/>
              </a:rPr>
              <a:t>I have taught beginners before — I know where people get stuck</a:t>
            </a:r>
          </a:p>
          <a:p>
            <a:pPr algn="l"/>
            <a:r>
              <a:rPr b="1" sz="1400">
                <a:solidFill>
                  <a:srgbClr val="22C55E"/>
                </a:solidFill>
                <a:latin typeface="Calibri"/>
              </a:rPr>
              <a:t>→  </a:t>
            </a:r>
            <a:r>
              <a:rPr b="0" sz="1400">
                <a:solidFill>
                  <a:srgbClr val="94A3B8"/>
                </a:solidFill>
                <a:latin typeface="Calibri"/>
              </a:rPr>
              <a:t>I have worked in companies across 4 countries — I know what employers expect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260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What You Need to Begin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577840" cy="21031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155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GitHub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5681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Go to github.com · Create a free account · Use a professional username
This becomes your developer identity and portfolio 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21031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1155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554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A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5681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Laptop or desktop — Windows, macOS, or Linux
Stable internet connection for live sessions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37560"/>
            <a:ext cx="5577840" cy="21031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4472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886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VS Code (Text Editor)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28853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Download free at code.visualstudio.com
This is the industry-standard editor we will use throughout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337560"/>
            <a:ext cx="5577840" cy="21031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1" y="34472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3886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A Learning Mindset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428853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No prior coding experience required
Consistency matters more than talent — show up every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CURRICULUM — MASTER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Course Curriculum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412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8 units in total  ·  Part 1 of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5577840" cy="452628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Master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How the Internet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42032"/>
            <a:ext cx="502920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▸  DNS, TCP/IP, HTTP, packets, status codes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815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▸  URL anatomy, TLS /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▸  How browsers render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6811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⚙  No prerequisite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325880"/>
            <a:ext cx="5577840" cy="452628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444752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Master Session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4708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Calibri"/>
              </a:rPr>
              <a:t>Software Development Lifecycle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42032"/>
            <a:ext cx="502920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7004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▸  Agile, Scrum, sprint planning, retrospectives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815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▸  CI/CD pipelines, DevOps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9300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▸  Team roles, burn-down charts, velocity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6811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⚙  No prerequisite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CURRICULUM — 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6 Courses — The Full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3749039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0424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92024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029967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Semantic structure, accessibility, ARIA, 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914400"/>
            <a:ext cx="3749039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424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481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92024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029967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Flexbox, Grid, responsive design, animations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914400"/>
            <a:ext cx="3749039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0424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4813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JavaScript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5048" y="192024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29967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DOM, events, async/await, Fetch API, localStorage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29000"/>
            <a:ext cx="3749039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5570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995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Git &amp; GitHub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443484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54456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Commits, branches, pull requests, CI pipelines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3429000"/>
            <a:ext cx="3749039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5570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995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React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443484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54456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Hooks, routing, state, TanStack Query, Tailwind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429000"/>
            <a:ext cx="3749039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35570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9959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Calibri"/>
              </a:rPr>
              <a:t>Frontend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5048" y="443484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54456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Claude &amp; GPT-4o APIs, streaming, voice, tool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MODE OF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How This Program Is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"This is not a YouTube playlist. This is a structured cohort."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779776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Segoe UI Emoji"/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56816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LMS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2377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All lessons, notes, exercises &amp; progress tracking in one place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389888"/>
            <a:ext cx="2779776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5270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Segoe UI Emoji"/>
              </a:rPr>
              <a:t>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1956816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Program Ebook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9856" y="2377440"/>
            <a:ext cx="2377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487168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Complete written reference — read offline, print, annotate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389888"/>
            <a:ext cx="2779776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5270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Segoe UI Emoji"/>
              </a:rPr>
              <a:t>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956816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GitHub Notes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2377440"/>
            <a:ext cx="2377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487168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Version-controlled notes — always up to date, forkable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1389888"/>
            <a:ext cx="2779776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5270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C55E"/>
                </a:solidFill>
                <a:latin typeface="Segoe UI Emoj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956816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Learning Community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45168" y="2377440"/>
            <a:ext cx="2377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487168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WhatsApp group — questions, accountability, peer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04487"/>
            <a:ext cx="2779776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416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C55E"/>
                </a:solidFill>
                <a:latin typeface="Segoe UI Emoji"/>
              </a:rPr>
              <a:t>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71416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Weekend Live Sessions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2377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01768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Real-time coding, Q&amp;A, recorded for replay in the LMS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3904487"/>
            <a:ext cx="2779776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9856" y="40416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C55E"/>
                </a:solidFill>
                <a:latin typeface="Segoe UI Emoji"/>
              </a:rPr>
              <a:t>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9856" y="4471416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Workshops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19856" y="4892040"/>
            <a:ext cx="2377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19856" y="5001768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Hands-on project sessions — build real things with live feedback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3904487"/>
            <a:ext cx="2779776" cy="22860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40416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Segoe UI Emoji"/>
              </a:rPr>
              <a:t>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471416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Calibri"/>
              </a:rPr>
              <a:t>Master Sessions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892040"/>
            <a:ext cx="2377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5001768"/>
            <a:ext cx="24871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Full-cohort deep dives — How the Web Works + SDLC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PROGRAM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Program Fee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11475720" cy="1417320"/>
          </a:xfrm>
          <a:prstGeom prst="rect">
            <a:avLst/>
          </a:prstGeom>
          <a:solidFill>
            <a:srgbClr val="00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2743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22C55E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Calibri"/>
              </a:rPr>
              <a:t>The program itself costs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81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We believe access to quality technical education should not depend on your bank balance.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4203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WHAT IS PAID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52928"/>
            <a:ext cx="114757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💰  Ebook (full program)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92608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Production cost for the authored &amp; designed written guide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30168"/>
            <a:ext cx="114757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💰  Certificate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0332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Verified, designed, and archived certificate of completion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07408"/>
            <a:ext cx="114757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Calibri"/>
              </a:rPr>
              <a:t>💰  Workshop 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8056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Printed / digital materials for intensive workshops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230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No hidden fees. No surprise charges. Costs are communicated clearly before any purchase.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SCHOLARSHIP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Scholarship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41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"No one should be left out because of finances."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36576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Fill the Application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Scholarship Application Form: [link to be inserted]
Takes approximately 5 minutes to 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417320"/>
            <a:ext cx="3749039" cy="36576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53619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103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What the Form 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265176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7432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Your name &amp; contact details
Which resources you need support with
3–5 sentence statement on your commitment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417320"/>
            <a:ext cx="3749039" cy="36576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9" y="153619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2C55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21031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Wait for a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199" y="2651760"/>
            <a:ext cx="32461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199" y="27432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Applications reviewed within 5 business days
Notified privately via email or WhatsApp
Decisions made with dignity and privacy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212080"/>
            <a:ext cx="11475720" cy="685800"/>
          </a:xfrm>
          <a:prstGeom prst="rect">
            <a:avLst/>
          </a:prstGeom>
          <a:solidFill>
            <a:srgbClr val="00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8523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D4FF"/>
                </a:solidFill>
                <a:latin typeface="Calibri"/>
              </a:rPr>
              <a:t>Do not wait for the scholarship decision to start. The program content is FREE — begin immediately.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D4FF"/>
                </a:solidFill>
                <a:latin typeface="Calibri"/>
              </a:rPr>
              <a:t>WHAT HAPPENS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8FAFC"/>
                </a:solidFill>
                <a:latin typeface="Calibri"/>
              </a:rPr>
              <a:t>Starting from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41248"/>
            <a:ext cx="1152144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987552"/>
            <a:ext cx="11475720" cy="7132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73152" cy="7132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3327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3385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First session — orientation, introductions,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10512"/>
            <a:ext cx="11475720" cy="7132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10512"/>
            <a:ext cx="73152" cy="7132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56231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This Weekend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95681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Master Session 1 — How the Internet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33472"/>
            <a:ext cx="11475720" cy="7132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633472"/>
            <a:ext cx="73152" cy="7132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79191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Next Weekend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77977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Master Session 2 — Software Development Lifecycle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456432"/>
            <a:ext cx="11475720" cy="7132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456432"/>
            <a:ext cx="73152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02151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Following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60273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HTML → CSS → JavaScript → Git → React → Frontend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79392"/>
            <a:ext cx="11475720" cy="713232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79392"/>
            <a:ext cx="73152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251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End of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42569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  <a:latin typeface="Calibri"/>
              </a:rPr>
              <a:t>Portfolio review, certificate,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1663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YOUR ACTION ITEMS BEFORE NEXT SESSION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468112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☐  Create / confirm your GitHub account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5468112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☐  Download and install VS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468112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☐  Introduce yourself in the WhatsApp group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5468112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☐  Read the program overview on the LMS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0F1E38"/>
                </a:solidFill>
                <a:latin typeface="Calibr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8FAF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  <a:latin typeface="Calibri"/>
              </a:rPr>
              <a:t>"You don't have to be great to start. But you have to start to be great."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462272"/>
            <a:ext cx="6702552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17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All lessons, notes &amp;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617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Community &amp; quick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4617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Notes &amp; code — always latest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4617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4956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Full written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2636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ICTZoid TechLab  ·  Web Development Program  ·  2026  ·  Samuel M. Ortil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